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-1463040"/>
            <a:ext cx="5943600" cy="5943600"/>
          </a:xfrm>
          <a:prstGeom prst="ellipse">
            <a:avLst/>
          </a:prstGeom>
          <a:solidFill>
            <a:srgbClr val="1E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64008" cy="82296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ПИТЧ-ДЕК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b="1" i="0">
                <a:solidFill>
                  <a:srgbClr val="E8ECF2"/>
                </a:solidFill>
                <a:latin typeface="Arial"/>
              </a:rPr>
              <a:t>МАРЖА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93A0B0"/>
                </a:solidFill>
                <a:latin typeface="Arial"/>
              </a:rPr>
              <a:t>Юнит-экономика для селлеров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93A0B0"/>
                </a:solidFill>
                <a:latin typeface="Arial"/>
              </a:rPr>
              <a:t>маркетплейсов — в одном окне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2331720" cy="566928"/>
          </a:xfrm>
          <a:prstGeom prst="roundRect">
            <a:avLst>
              <a:gd name="adj" fmla="val 5500"/>
            </a:avLst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9943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1206"/>
                </a:solidFill>
                <a:latin typeface="Arial"/>
              </a:rPr>
              <a:t>Ищем 12 млн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62686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3A0B0"/>
                </a:solidFill>
                <a:latin typeface="Arial"/>
              </a:rPr>
              <a:t>раунд seed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3566160" cy="32004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0116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3A0B0"/>
                </a:solidFill>
                <a:latin typeface="Arial"/>
              </a:rPr>
              <a:t>ПРИБЫЛЬ С ЕДИНИЦЫ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286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4ADE80"/>
                </a:solidFill>
                <a:latin typeface="Arial"/>
              </a:rPr>
              <a:t>247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9718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87171"/>
                </a:solidFill>
                <a:latin typeface="Arial"/>
              </a:rPr>
              <a:t>было до расчёта: «+600 ₽»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4290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Комиссия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4290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8130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Логистика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81304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E8ECF2"/>
                </a:solidFill>
                <a:latin typeface="Arial"/>
              </a:rPr>
              <a:t>85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1970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Возвраты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419709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87171"/>
                </a:solidFill>
                <a:latin typeface="Arial"/>
              </a:rPr>
              <a:t>51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581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Реклама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5811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257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Данные демонстрационные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Селлер видит выручку, но не видит прибыль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3A0B0"/>
                </a:solidFill>
                <a:latin typeface="Arial"/>
              </a:rPr>
              <a:t>Маркетплейс показывает оборот и выплату. Между ними — 8–11 статей расходов, которые никто не сводит в одну цифру.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487168" cy="16002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15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87171"/>
                </a:solidFill>
                <a:latin typeface="Arial"/>
              </a:rPr>
              <a:t>7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55848"/>
            <a:ext cx="22128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селлеров не знают прибыль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 одной продажи товара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14600"/>
            <a:ext cx="2487168" cy="16002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715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87171"/>
                </a:solidFill>
                <a:latin typeface="Arial"/>
              </a:rPr>
              <a:t>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355848"/>
            <a:ext cx="22128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карточек на WB торгуют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в минус после рекламы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514600"/>
            <a:ext cx="2487168" cy="16002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715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E8B44C"/>
                </a:solidFill>
                <a:latin typeface="Arial"/>
              </a:rPr>
              <a:t>8–11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355848"/>
            <a:ext cx="22128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статей расходов, которые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надо свести вручную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514600"/>
            <a:ext cx="2487168" cy="16002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71576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E8B44C"/>
                </a:solidFill>
                <a:latin typeface="Arial"/>
              </a:rPr>
              <a:t>6 часов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355848"/>
            <a:ext cx="22128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в месяц уходит на сбор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цифр из 4 разных отчётов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34840"/>
            <a:ext cx="10561320" cy="16002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177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B44C"/>
                </a:solidFill>
                <a:latin typeface="Arial"/>
              </a:rPr>
              <a:t>К чему это приводит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29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1091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Товар продаётся «хорошо» по обороту — и приносит убыток на каждом заказе. Селлер узнаёт об этом через 3–6 месяцев, когда касса пуста.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3675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Участие в акциях площадки вслепую: скидка 25% часто превращает маржу 18% в минус, а продавец видит это только в отчёте через месяц.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7058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687568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Решения о закупке партии принимаются по ощущению, а не по расчёту: деньги замораживаются в неликвиде.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Одна таблица вместо четырёх отчётов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3A0B0"/>
                </a:solidFill>
                <a:latin typeface="Arial"/>
              </a:rPr>
              <a:t>«Маржа» забирает данные из кабинетов WB, Ozon и Яндекс Маркета и считает реальную прибыль по каждому артикулу — автоматически, каждый день.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383280" cy="1627632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54864" cy="1627632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ECF2"/>
                </a:solidFill>
                <a:latin typeface="Arial"/>
              </a:rPr>
              <a:t>Автозагрузка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API маркетплейсов: продажи, комиссии, логистика, реклама, возвраты. Без выгрузок и копипаста.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468880"/>
            <a:ext cx="3383280" cy="1627632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468880"/>
            <a:ext cx="54864" cy="1627632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2670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ECF2"/>
                </a:solidFill>
                <a:latin typeface="Arial"/>
              </a:rPr>
              <a:t>Unit-экономика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063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Прибыль, маржа, ROI, точка безубыточности — по каждому артикулу и по магазину в целом.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2468880"/>
            <a:ext cx="3383280" cy="1627632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46136" y="2468880"/>
            <a:ext cx="54864" cy="1627632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670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ECF2"/>
                </a:solidFill>
                <a:latin typeface="Arial"/>
              </a:rPr>
              <a:t>Симулятор цены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306324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Что будет с прибылью при −15%, −25%, участии в акции и росте логистики. До того, как вы согласитесь.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51960"/>
            <a:ext cx="3383280" cy="1627632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51960"/>
            <a:ext cx="54864" cy="1627632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4531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ECF2"/>
                </a:solidFill>
                <a:latin typeface="Arial"/>
              </a:rPr>
              <a:t>Алерты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463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Телеграм присылает сообщение, когда артикул ушёл в минус или реклама съела маржу.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4251960"/>
            <a:ext cx="3383280" cy="1627632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4251960"/>
            <a:ext cx="54864" cy="1627632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44531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ECF2"/>
                </a:solidFill>
                <a:latin typeface="Arial"/>
              </a:rPr>
              <a:t>Прогноз закупки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8463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Сколько и когда заказать, чтобы не заморозить деньги и не остаться без товара в сезон.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4251960"/>
            <a:ext cx="3383280" cy="1627632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46136" y="4251960"/>
            <a:ext cx="54864" cy="1627632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445312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ECF2"/>
                </a:solidFill>
                <a:latin typeface="Arial"/>
              </a:rPr>
              <a:t>Экспорт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48463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Отчёт для бухгалтера, инвестора и банка в один клик. XLSX, PDF.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МЕХАНИКА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Три шага и пять минут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383280" cy="283464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B44C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8ECF2"/>
                </a:solidFill>
                <a:latin typeface="Arial"/>
              </a:rPr>
              <a:t>Подключаете кабинет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Авторизация по API-ключу из личного кабинета WB/Ozon. Доступ только на чтение — мы не видим деньги и не можем менять цены.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78808" y="3383280"/>
            <a:ext cx="164592" cy="274320"/>
          </a:xfrm>
          <a:prstGeom prst="rightArrow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1688" y="2148840"/>
            <a:ext cx="3383280" cy="283464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3774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B44C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200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8ECF2"/>
                </a:solidFill>
                <a:latin typeface="Arial"/>
              </a:rPr>
              <a:t>Вносите себестоимость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6576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Один раз: закупка, доставка до склада, упаковка. Дальше можно загружать из файла поставщика.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63256" y="3383280"/>
            <a:ext cx="164592" cy="274320"/>
          </a:xfrm>
          <a:prstGeom prst="rightArrow">
            <a:avLst/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46136" y="2148840"/>
            <a:ext cx="3383280" cy="283464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23774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8B44C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32004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8ECF2"/>
                </a:solidFill>
                <a:latin typeface="Arial"/>
              </a:rPr>
              <a:t>Получаете прибыль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365760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Дашборд обновляется ежедневно. Видно, какой артикул зарабатывает, какой тянет на дно и какую цену ставить.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57800"/>
            <a:ext cx="10561320" cy="777240"/>
          </a:xfrm>
          <a:prstGeom prst="roundRect">
            <a:avLst>
              <a:gd name="adj" fmla="val 5500"/>
            </a:avLst>
          </a:prstGeom>
          <a:solidFill>
            <a:srgbClr val="17202B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46811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4ADE80"/>
                </a:solidFill>
                <a:latin typeface="Arial"/>
              </a:rPr>
              <a:t>Результат: вместо «выручка 380 000 ₽» вы видите «чистыми 41 200 ₽, три артикула в минусе, один надо снимать с продажи».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РЫНОК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Селлеров много, и они считают деньги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93A0B0"/>
                </a:solidFill>
                <a:latin typeface="Arial"/>
              </a:rPr>
              <a:t>Оценка снизу вверх: по количеству активных продавцов на трёх площадках.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10561320" cy="105156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77440"/>
            <a:ext cx="3992879" cy="1051560"/>
          </a:xfrm>
          <a:prstGeom prst="rect">
            <a:avLst/>
          </a:prstGeom>
          <a:solidFill>
            <a:srgbClr val="24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2491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8B44C"/>
                </a:solidFill>
                <a:latin typeface="Arial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334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ECF2"/>
                </a:solidFill>
                <a:latin typeface="Arial"/>
              </a:rPr>
              <a:t>680 тыс.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33472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активных селлеров на WB, Ozon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и Яндекс Маркете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84448"/>
            <a:ext cx="10561320" cy="105156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84448"/>
            <a:ext cx="2895600" cy="1051560"/>
          </a:xfrm>
          <a:prstGeom prst="rect">
            <a:avLst/>
          </a:prstGeom>
          <a:solidFill>
            <a:srgbClr val="24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9319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8B44C"/>
                </a:solidFill>
                <a:latin typeface="Arial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404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ECF2"/>
                </a:solidFill>
                <a:latin typeface="Arial"/>
              </a:rPr>
              <a:t>190 тыс.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40480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селлеров с оборотом от 300 тыс ₽/мес —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те, кому расчёт уже жизненно важен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91456"/>
            <a:ext cx="10561320" cy="105156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791456"/>
            <a:ext cx="1981199" cy="1051560"/>
          </a:xfrm>
          <a:prstGeom prst="rect">
            <a:avLst/>
          </a:prstGeom>
          <a:solidFill>
            <a:srgbClr val="243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389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E8B44C"/>
                </a:solidFill>
                <a:latin typeface="Arial"/>
              </a:rPr>
              <a:t>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047488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E8ECF2"/>
                </a:solidFill>
                <a:latin typeface="Arial"/>
              </a:rPr>
              <a:t>9 500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047488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цель на 3 года при доле 5% SAM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и среднем чеке 2 900 ₽/мес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676"/>
                </a:solidFill>
                <a:latin typeface="Arial"/>
              </a:rPr>
              <a:t>Источник: открытые отчёты площадок, данные сервисов аналитики. Оценки демонстрационные — для образца структуры питч-дека.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БИЗНЕС-МОДЕЛЬ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Подписка, которая окупается одной найденной ошибкой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3383280" cy="3749039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СТАРТ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E8ECF2"/>
                </a:solidFill>
                <a:latin typeface="Arial"/>
              </a:rPr>
              <a:t>990 ₽/мес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91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91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1 магазин, до 50 артикулов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75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758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Unit-экономика и точка безубыточности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599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05993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Обновление раз в сутки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439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44398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Поддержка в чате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2057400"/>
            <a:ext cx="3383280" cy="3749039"/>
          </a:xfrm>
          <a:prstGeom prst="roundRect">
            <a:avLst>
              <a:gd name="adj" fmla="val 5500"/>
            </a:avLst>
          </a:prstGeom>
          <a:solidFill>
            <a:srgbClr val="222B38"/>
          </a:solidFill>
          <a:ln w="22225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0527" y="1874519"/>
            <a:ext cx="1097280" cy="329184"/>
          </a:xfrm>
          <a:prstGeom prst="round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192938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A1206"/>
                </a:solidFill>
                <a:latin typeface="Arial"/>
              </a:rPr>
              <a:t>80% берут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2331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БИЗНЕС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65176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E8ECF2"/>
                </a:solidFill>
                <a:latin typeface="Arial"/>
              </a:rPr>
              <a:t>2 900 ₽/мес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3291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7" y="3291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3 магазина, до 500 артикулов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675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7" y="36758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Симулятор цен и акций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0599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7" y="405993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Алерты в Telegram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44439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7" y="444398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Прогноз закупки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4828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7" y="48280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Экспорт для бухгалтера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46136" y="2057400"/>
            <a:ext cx="3383280" cy="3749039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2331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АГЕНТСТВО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2651760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E8ECF2"/>
                </a:solidFill>
                <a:latin typeface="Arial"/>
              </a:rPr>
              <a:t>7 900 ₽/мес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291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4776" y="32918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Без ограничений по магазинам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36758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94776" y="36758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Мультиклиентский доступ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40599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405993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White-label отчёты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4439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4776" y="4443984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4828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482803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Персональный менеджер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943600"/>
            <a:ext cx="10561320" cy="566928"/>
          </a:xfrm>
          <a:prstGeom prst="roundRect">
            <a:avLst>
              <a:gd name="adj" fmla="val 5500"/>
            </a:avLst>
          </a:prstGeom>
          <a:solidFill>
            <a:srgbClr val="17202B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DE80"/>
                </a:solidFill>
                <a:latin typeface="Arial"/>
              </a:rPr>
              <a:t>Целевые юнит-метрики: LTV/CAC &gt; 4 · отток &lt; 4%/мес · окупаемость CAC &lt; 3 месяцев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КОНКУРЕНТЫ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Рынок не пустой — и это хорошо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93A0B0"/>
                </a:solidFill>
                <a:latin typeface="Arial"/>
              </a:rPr>
              <a:t>Существующие сервисы считают продажи и позиции. Прибыль с единицы после всех расходов — почти никто.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420624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50591"/>
            <a:ext cx="4023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ECF2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983479" y="2331720"/>
            <a:ext cx="132588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19" y="2450591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B44C"/>
                </a:solidFill>
                <a:latin typeface="Arial"/>
              </a:rPr>
              <a:t>Аналитика продаж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331720"/>
            <a:ext cx="132588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2450591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B44C"/>
                </a:solidFill>
                <a:latin typeface="Arial"/>
              </a:rPr>
              <a:t>Unit-экономика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331720"/>
            <a:ext cx="128016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2450591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B44C"/>
                </a:solidFill>
                <a:latin typeface="Arial"/>
              </a:rPr>
              <a:t>Симулятор цены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331720"/>
            <a:ext cx="128016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450591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B44C"/>
                </a:solidFill>
                <a:latin typeface="Arial"/>
              </a:rPr>
              <a:t>Прогноз закупки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95560" y="2331720"/>
            <a:ext cx="2057400" cy="45720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2450591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B44C"/>
                </a:solidFill>
                <a:latin typeface="Arial"/>
              </a:rPr>
              <a:t>Цена, ₽/мес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807208"/>
            <a:ext cx="420624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2971800"/>
            <a:ext cx="3986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8ECF2"/>
                </a:solidFill>
                <a:latin typeface="Arial"/>
              </a:rPr>
              <a:t>Сервисы аналитики (MPStats и аналоги)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79" y="2807208"/>
            <a:ext cx="132588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3207" y="2971800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ADE80"/>
                </a:solidFill>
                <a:latin typeface="Arial"/>
              </a:rPr>
              <a:t>да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807208"/>
            <a:ext cx="132588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971800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частично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807208"/>
            <a:ext cx="128016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7" y="2971800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87171"/>
                </a:solidFill>
                <a:latin typeface="Arial"/>
              </a:rPr>
              <a:t>нет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807208"/>
            <a:ext cx="128016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971800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87171"/>
                </a:solidFill>
                <a:latin typeface="Arial"/>
              </a:rPr>
              <a:t>нет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807208"/>
            <a:ext cx="205740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05288" y="2971800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3 000–30 000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0712"/>
            <a:ext cx="4206240" cy="58521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575304"/>
            <a:ext cx="3986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8ECF2"/>
                </a:solidFill>
                <a:latin typeface="Arial"/>
              </a:rPr>
              <a:t>Excel своими руками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79" y="3410712"/>
            <a:ext cx="1325880" cy="58521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93207" y="3575304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ADE80"/>
                </a:solidFill>
                <a:latin typeface="Arial"/>
              </a:rPr>
              <a:t>да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410712"/>
            <a:ext cx="1325880" cy="58521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575304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да, если не лень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3410712"/>
            <a:ext cx="1280160" cy="58521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7" y="3575304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вручную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3410712"/>
            <a:ext cx="1280160" cy="58521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3575304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вручную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95560" y="3410712"/>
            <a:ext cx="2057400" cy="58521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05288" y="3575304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0 + 6 ч/мес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014215"/>
            <a:ext cx="420624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4178807"/>
            <a:ext cx="3986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8ECF2"/>
                </a:solidFill>
                <a:latin typeface="Arial"/>
              </a:rPr>
              <a:t>Бухгалтер на аутсорсе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79" y="4014215"/>
            <a:ext cx="132588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93207" y="4178807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87171"/>
                </a:solidFill>
                <a:latin typeface="Arial"/>
              </a:rPr>
              <a:t>нет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4014215"/>
            <a:ext cx="132588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4178807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раз в месяц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35240" y="4014215"/>
            <a:ext cx="128016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4967" y="4178807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87171"/>
                </a:solidFill>
                <a:latin typeface="Arial"/>
              </a:rPr>
              <a:t>нет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014215"/>
            <a:ext cx="128016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5128" y="4178807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87171"/>
                </a:solidFill>
                <a:latin typeface="Arial"/>
              </a:rPr>
              <a:t>нет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95560" y="4014215"/>
            <a:ext cx="2057400" cy="58521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05288" y="4178807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0B0"/>
                </a:solidFill>
                <a:latin typeface="Arial"/>
              </a:rPr>
              <a:t>8 000–20 000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617720"/>
            <a:ext cx="4206240" cy="585216"/>
          </a:xfrm>
          <a:prstGeom prst="rect">
            <a:avLst/>
          </a:prstGeom>
          <a:solidFill>
            <a:srgbClr val="242D3A"/>
          </a:solidFill>
          <a:ln w="1778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" y="4782312"/>
            <a:ext cx="398678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8B44C"/>
                </a:solidFill>
                <a:latin typeface="Arial"/>
              </a:rPr>
              <a:t>МАРЖА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79" y="4617720"/>
            <a:ext cx="1325880" cy="585216"/>
          </a:xfrm>
          <a:prstGeom prst="rect">
            <a:avLst/>
          </a:prstGeom>
          <a:solidFill>
            <a:srgbClr val="242D3A"/>
          </a:solidFill>
          <a:ln w="1778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93207" y="4782312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4ADE80"/>
                </a:solidFill>
                <a:latin typeface="Arial"/>
              </a:rPr>
              <a:t>да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59" y="4617720"/>
            <a:ext cx="1325880" cy="585216"/>
          </a:xfrm>
          <a:prstGeom prst="rect">
            <a:avLst/>
          </a:prstGeom>
          <a:solidFill>
            <a:srgbClr val="242D3A"/>
          </a:solidFill>
          <a:ln w="1778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9088" y="4782312"/>
            <a:ext cx="1106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E8ECF2"/>
                </a:solidFill>
                <a:latin typeface="Arial"/>
              </a:rPr>
              <a:t>да, ежедневно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35240" y="4617720"/>
            <a:ext cx="1280160" cy="585216"/>
          </a:xfrm>
          <a:prstGeom prst="rect">
            <a:avLst/>
          </a:prstGeom>
          <a:solidFill>
            <a:srgbClr val="242D3A"/>
          </a:solidFill>
          <a:ln w="1778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44967" y="4782312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4ADE80"/>
                </a:solidFill>
                <a:latin typeface="Arial"/>
              </a:rPr>
              <a:t>да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15400" y="4617720"/>
            <a:ext cx="1280160" cy="585216"/>
          </a:xfrm>
          <a:prstGeom prst="rect">
            <a:avLst/>
          </a:prstGeom>
          <a:solidFill>
            <a:srgbClr val="242D3A"/>
          </a:solidFill>
          <a:ln w="1778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5128" y="4782312"/>
            <a:ext cx="10607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4ADE80"/>
                </a:solidFill>
                <a:latin typeface="Arial"/>
              </a:rPr>
              <a:t>да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95560" y="4617720"/>
            <a:ext cx="2057400" cy="585216"/>
          </a:xfrm>
          <a:prstGeom prst="rect">
            <a:avLst/>
          </a:prstGeom>
          <a:solidFill>
            <a:srgbClr val="242D3A"/>
          </a:solidFill>
          <a:ln w="1778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05288" y="4782312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E8ECF2"/>
                </a:solidFill>
                <a:latin typeface="Arial"/>
              </a:rPr>
              <a:t>990–7 900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53949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93A0B0"/>
                </a:solidFill>
                <a:latin typeface="Arial"/>
              </a:rPr>
              <a:t>Наше отличие: мы не «ещё один сервис аналитики», а инструмент одного решения — сколько я зарабатываю на этой штуке и какую цену ставить. Узко, дёшево и ежедневно.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РЕЗУЛЬТАТЫ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Что уже есть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3A0B0"/>
                </a:solidFill>
                <a:latin typeface="Arial"/>
              </a:rPr>
              <a:t>Пилот на 6 месяцах с 40 селлерами. Все цифры ниже — внутренние данные пилота.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487168" cy="178308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E8B44C"/>
                </a:solidFill>
                <a:latin typeface="Arial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селлеров в пилоте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240280"/>
            <a:ext cx="2487168" cy="178308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4ADE80"/>
                </a:solidFill>
                <a:latin typeface="Arial"/>
              </a:rPr>
              <a:t>87%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815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доходят до 3-го месяца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2487168" cy="178308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44144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4ADE80"/>
                </a:solidFill>
                <a:latin typeface="Arial"/>
              </a:rPr>
              <a:t>2 140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815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средняя найденная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прибыль на артикул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2240280"/>
            <a:ext cx="2487168" cy="178308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441448"/>
            <a:ext cx="2487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E8ECF2"/>
                </a:solidFill>
                <a:latin typeface="Arial"/>
              </a:rPr>
              <a:t>11 дней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081528"/>
            <a:ext cx="221284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средний срок от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подключения до решения</a:t>
            </a:r>
          </a:p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93A0B0"/>
                </a:solidFill>
                <a:latin typeface="Arial"/>
              </a:rPr>
              <a:t>о закупке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97680"/>
            <a:ext cx="10561320" cy="169164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Отзывы пилотной группы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93A0B0"/>
                </a:solidFill>
                <a:latin typeface="Arial"/>
              </a:rPr>
              <a:t>«Нашёл три артикула, которые год продавались в минус. Убрал — прибыль выросла на 90 тысяч в месяц без роста оборота».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9495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93A0B0"/>
                </a:solidFill>
                <a:latin typeface="Arial"/>
              </a:rPr>
              <a:t>«Раньше считал в трёх таблицах и всё равно не понимал, можно ли заходить в акцию. Теперь проверяю за минуту».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8076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5A6676"/>
                </a:solidFill>
                <a:latin typeface="Arial"/>
              </a:rPr>
              <a:t>Данные приведены как пример структуры слайда traction.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ПРОГНОЗ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Финансовая модель на 3 года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2651760" cy="50292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2257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Показатель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94560"/>
            <a:ext cx="2468880" cy="50292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225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194560"/>
            <a:ext cx="2468880" cy="50292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3225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2027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2194560"/>
            <a:ext cx="2468880" cy="502920"/>
          </a:xfrm>
          <a:prstGeom prst="rect">
            <a:avLst/>
          </a:prstGeom>
          <a:solidFill>
            <a:srgbClr val="222B38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3225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2028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15768"/>
            <a:ext cx="265176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4378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ECF2"/>
                </a:solidFill>
                <a:latin typeface="Arial"/>
              </a:rPr>
              <a:t>Платящих клиентов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715768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84378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120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715768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84378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900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715768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284378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3 400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227832"/>
            <a:ext cx="265176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558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ECF2"/>
                </a:solidFill>
                <a:latin typeface="Arial"/>
              </a:rPr>
              <a:t>MRR,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227832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35584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280 000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227832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35584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2 300 000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3227832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35584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9 100 000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739896"/>
            <a:ext cx="265176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867911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ECF2"/>
                </a:solidFill>
                <a:latin typeface="Arial"/>
              </a:rPr>
              <a:t>ARR, 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739896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867911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3,4 млн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739896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867911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27,6 млн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3739896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867911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109 млн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251960"/>
            <a:ext cx="265176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37997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ECF2"/>
                </a:solidFill>
                <a:latin typeface="Arial"/>
              </a:rPr>
              <a:t>Валовая маржа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251960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3799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71%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251960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3799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76%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4251960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43799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79%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764024"/>
            <a:ext cx="265176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8920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ECF2"/>
                </a:solidFill>
                <a:latin typeface="Arial"/>
              </a:rPr>
              <a:t>Команда, чел.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4764024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764024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4764024"/>
            <a:ext cx="2468880" cy="493776"/>
          </a:xfrm>
          <a:prstGeom prst="rect">
            <a:avLst/>
          </a:prstGeom>
          <a:solidFill>
            <a:srgbClr val="1B222C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276088"/>
            <a:ext cx="265176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404103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EBITDA, 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29000" y="5276088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60" y="5404103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7171"/>
                </a:solidFill>
                <a:latin typeface="Arial"/>
              </a:rPr>
              <a:t>−1,8 млн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5276088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5404103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+2,1 млн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32520" y="5276088"/>
            <a:ext cx="2468880" cy="493776"/>
          </a:xfrm>
          <a:prstGeom prst="rect">
            <a:avLst/>
          </a:prstGeom>
          <a:solidFill>
            <a:srgbClr val="161C25"/>
          </a:solidFill>
          <a:ln w="9525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0" y="5404103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4ADE80"/>
                </a:solidFill>
                <a:latin typeface="Arial"/>
              </a:rPr>
              <a:t>+24 млн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580644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0B0"/>
                </a:solidFill>
                <a:latin typeface="Arial"/>
              </a:rPr>
              <a:t>Точка безубыточности — 14-й месяц при CAC 4 800 ₽ и оттоке 3,5%. Модель в XLSX прилагается по запросу.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КОМАНДА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Кто это делает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383280" cy="32004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2423160"/>
            <a:ext cx="914400" cy="914400"/>
          </a:xfrm>
          <a:prstGeom prst="ellipse">
            <a:avLst/>
          </a:prstGeom>
          <a:solidFill>
            <a:srgbClr val="2A3544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670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B44C"/>
                </a:solidFill>
                <a:latin typeface="Arial"/>
              </a:rPr>
              <a:t>АК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8ECF2"/>
                </a:solidFill>
                <a:latin typeface="Arial"/>
              </a:rPr>
              <a:t>Анна 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8B44C"/>
                </a:solidFill>
                <a:latin typeface="Arial"/>
              </a:rPr>
              <a:t>CEO · продукт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976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0B0"/>
                </a:solidFill>
                <a:latin typeface="Arial"/>
              </a:rPr>
              <a:t>6 лет в e-commerce, руководила категорийным отделом на 400 млн ₽ оборота. Сама была селлером — знает боль изнутри.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148840"/>
            <a:ext cx="3383280" cy="32004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6127" y="2423160"/>
            <a:ext cx="914400" cy="914400"/>
          </a:xfrm>
          <a:prstGeom prst="ellipse">
            <a:avLst/>
          </a:prstGeom>
          <a:solidFill>
            <a:srgbClr val="2A3544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6127" y="2670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B44C"/>
                </a:solidFill>
                <a:latin typeface="Arial"/>
              </a:rPr>
              <a:t>ДС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5204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8ECF2"/>
                </a:solidFill>
                <a:latin typeface="Arial"/>
              </a:rPr>
              <a:t>Дмитрий 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38862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8B44C"/>
                </a:solidFill>
                <a:latin typeface="Arial"/>
              </a:rPr>
              <a:t>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42976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0B0"/>
                </a:solidFill>
                <a:latin typeface="Arial"/>
              </a:rPr>
              <a:t>Интеграции с API маркетплейсов, ранее — бэкенд в финтехе. Собрал первую версию сервиса за 3 месяца.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6136" y="2148840"/>
            <a:ext cx="3383280" cy="3200400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80576" y="2423160"/>
            <a:ext cx="914400" cy="914400"/>
          </a:xfrm>
          <a:prstGeom prst="ellipse">
            <a:avLst/>
          </a:prstGeom>
          <a:solidFill>
            <a:srgbClr val="2A3544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2670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B44C"/>
                </a:solidFill>
                <a:latin typeface="Arial"/>
              </a:rPr>
              <a:t>МЛ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5204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E8ECF2"/>
                </a:solidFill>
                <a:latin typeface="Arial"/>
              </a:rPr>
              <a:t>Мария Л.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8862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8B44C"/>
                </a:solidFill>
                <a:latin typeface="Arial"/>
              </a:rPr>
              <a:t>Head of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429768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93A0B0"/>
                </a:solidFill>
                <a:latin typeface="Arial"/>
              </a:rPr>
              <a:t>Привела 40 селлеров в пилот без платной рекламы. Эксперт по сообществам продавцов.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93A0B0"/>
                </a:solidFill>
                <a:latin typeface="Arial"/>
              </a:rPr>
              <a:t>Советники: руководитель отдела аналитики крупного селлера (оборот 2,1 млрд ₽/год), налоговый консультант по маркетплейсам.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Arial"/>
              </a:rPr>
              <a:t>ПРЕДЛОЖЕНИЕ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896112"/>
            <a:ext cx="64008" cy="50292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8ECF2"/>
                </a:solidFill>
                <a:latin typeface="Arial"/>
              </a:rPr>
              <a:t>Что нам нужно и на что пойдут деньги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029200" cy="1965960"/>
          </a:xfrm>
          <a:prstGeom prst="roundRect">
            <a:avLst>
              <a:gd name="adj" fmla="val 5500"/>
            </a:avLst>
          </a:prstGeom>
          <a:solidFill>
            <a:srgbClr val="222B38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3A0B0"/>
                </a:solidFill>
                <a:latin typeface="Arial"/>
              </a:rPr>
              <a:t>Раунд 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B44C"/>
                </a:solidFill>
                <a:latin typeface="Arial"/>
              </a:rPr>
              <a:t>12 млн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F2"/>
                </a:solidFill>
                <a:latin typeface="Arial"/>
              </a:rPr>
              <a:t>за 18% · pre-money 54,7 млн 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965960"/>
            <a:ext cx="5257800" cy="694944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ECF2"/>
                </a:solidFill>
                <a:latin typeface="Arial"/>
              </a:rPr>
              <a:t>Разработка продукта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50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0B0"/>
                </a:solidFill>
                <a:latin typeface="Arial"/>
              </a:rPr>
              <a:t>5,4 млн ₽ — интеграции, мобильная версия, прогноз закупки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214884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E8B44C"/>
                </a:solidFill>
                <a:latin typeface="Arial"/>
              </a:rPr>
              <a:t>45%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752344"/>
            <a:ext cx="5257800" cy="694944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84378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ECF2"/>
                </a:solidFill>
                <a:latin typeface="Arial"/>
              </a:rPr>
              <a:t>Маркетинг и продажи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36391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0B0"/>
                </a:solidFill>
                <a:latin typeface="Arial"/>
              </a:rPr>
              <a:t>4,0 млн ₽ — контент, сообщества селлеров, 2 менеджера продаж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2935224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E8B44C"/>
                </a:solidFill>
                <a:latin typeface="Arial"/>
              </a:rPr>
              <a:t>33%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538728"/>
            <a:ext cx="5257800" cy="694944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6301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ECF2"/>
                </a:solidFill>
                <a:latin typeface="Arial"/>
              </a:rPr>
              <a:t>Команда и операционка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227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0B0"/>
                </a:solidFill>
                <a:latin typeface="Arial"/>
              </a:rPr>
              <a:t>2,0 млн ₽ — поддержка, инфраструктура, юруслуги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372160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E8B44C"/>
                </a:solidFill>
                <a:latin typeface="Arial"/>
              </a:rPr>
              <a:t>17%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325112"/>
            <a:ext cx="5257800" cy="694944"/>
          </a:xfrm>
          <a:prstGeom prst="roundRect">
            <a:avLst>
              <a:gd name="adj" fmla="val 5500"/>
            </a:avLst>
          </a:prstGeom>
          <a:solidFill>
            <a:srgbClr val="1B222C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4165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ECF2"/>
                </a:solidFill>
                <a:latin typeface="Arial"/>
              </a:rPr>
              <a:t>Резерв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0B0"/>
                </a:solidFill>
                <a:latin typeface="Arial"/>
              </a:rPr>
              <a:t>0,6 млн 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4507992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E8B44C"/>
                </a:solidFill>
                <a:latin typeface="Arial"/>
              </a:rPr>
              <a:t>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212080"/>
            <a:ext cx="10561320" cy="868680"/>
          </a:xfrm>
          <a:prstGeom prst="roundRect">
            <a:avLst>
              <a:gd name="adj" fmla="val 5500"/>
            </a:avLst>
          </a:prstGeom>
          <a:solidFill>
            <a:srgbClr val="17202B"/>
          </a:solidFill>
          <a:ln w="12700">
            <a:solidFill>
              <a:srgbClr val="2A3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3949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3A0B0"/>
                </a:solidFill>
                <a:latin typeface="Arial"/>
              </a:rPr>
              <a:t>Цель раунда на 18 месяцев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669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4ADE80"/>
                </a:solidFill>
                <a:latin typeface="Arial"/>
              </a:rPr>
              <a:t>900 платящих клиентов · MRR 2,3 млн ₽ · выход на операционную прибыль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676"/>
                </a:solidFill>
                <a:latin typeface="Arial"/>
              </a:rPr>
              <a:t>«Маржа» · питч-дек · образец работы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A667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2286000"/>
            <a:ext cx="7315200" cy="7315200"/>
          </a:xfrm>
          <a:prstGeom prst="ellipse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64008" cy="82296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44C"/>
                </a:solidFill>
                <a:latin typeface="Arial"/>
              </a:rPr>
              <a:t>СПАСИБО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8ECF2"/>
                </a:solidFill>
                <a:latin typeface="Arial"/>
              </a:rPr>
              <a:t>Готовы показать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8ECF2"/>
                </a:solidFill>
                <a:latin typeface="Arial"/>
              </a:rPr>
              <a:t>живой продукт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0B0"/>
                </a:solidFill>
                <a:latin typeface="Arial"/>
              </a:rPr>
              <a:t>Дадим доступ к демо-кабинету на 14 дней и посчитаем ваш товар вместе с вами.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B44C"/>
                </a:solidFill>
                <a:latin typeface="Arial"/>
              </a:rPr>
              <a:t>ПОЧТА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8ECF2"/>
                </a:solidFill>
                <a:latin typeface="Arial"/>
              </a:rPr>
              <a:t>founders@margha.ru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257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B44C"/>
                </a:solidFill>
                <a:latin typeface="Arial"/>
              </a:rPr>
              <a:t>ТЕЛЕФОН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32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8ECF2"/>
                </a:solidFill>
                <a:latin typeface="Arial"/>
              </a:rPr>
              <a:t>+7 (900) 000-00-00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5257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B44C"/>
                </a:solidFill>
                <a:latin typeface="Arial"/>
              </a:rPr>
              <a:t>TELEGRAM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5532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8ECF2"/>
                </a:solidFill>
                <a:latin typeface="Arial"/>
              </a:rPr>
              <a:t>@margha_team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A6676"/>
                </a:solidFill>
                <a:latin typeface="Arial"/>
              </a:rPr>
              <a:t>Все данные в этой презентации демонстрационные — это образец структуры и дизайна.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